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729"/>
  </p:normalViewPr>
  <p:slideViewPr>
    <p:cSldViewPr snapToGrid="0">
      <p:cViewPr varScale="1">
        <p:scale>
          <a:sx n="115" d="100"/>
          <a:sy n="115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A056D4-AF2C-4D30-BBEE-28D79FB8B4E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CEE4FD7-3958-46E7-915A-DE7C4B96E696}">
      <dgm:prSet/>
      <dgm:spPr/>
      <dgm:t>
        <a:bodyPr/>
        <a:lstStyle/>
        <a:p>
          <a:r>
            <a:rPr lang="en-US"/>
            <a:t>Business Rules</a:t>
          </a:r>
        </a:p>
      </dgm:t>
    </dgm:pt>
    <dgm:pt modelId="{D119AD1A-852E-4CE3-A5CF-85B8F787D328}" type="parTrans" cxnId="{31454E21-647C-45D5-BE0A-EB5F54F41918}">
      <dgm:prSet/>
      <dgm:spPr/>
      <dgm:t>
        <a:bodyPr/>
        <a:lstStyle/>
        <a:p>
          <a:endParaRPr lang="en-US"/>
        </a:p>
      </dgm:t>
    </dgm:pt>
    <dgm:pt modelId="{87665EBB-26FA-4AC0-B43D-600AB630C4C4}" type="sibTrans" cxnId="{31454E21-647C-45D5-BE0A-EB5F54F41918}">
      <dgm:prSet/>
      <dgm:spPr/>
      <dgm:t>
        <a:bodyPr/>
        <a:lstStyle/>
        <a:p>
          <a:endParaRPr lang="en-US"/>
        </a:p>
      </dgm:t>
    </dgm:pt>
    <dgm:pt modelId="{1443706E-3134-40AC-A52B-2E015E42A0A2}">
      <dgm:prSet/>
      <dgm:spPr/>
      <dgm:t>
        <a:bodyPr/>
        <a:lstStyle/>
        <a:p>
          <a:r>
            <a:rPr lang="en-US"/>
            <a:t>One client can have one asset</a:t>
          </a:r>
        </a:p>
      </dgm:t>
    </dgm:pt>
    <dgm:pt modelId="{804ADAEC-C178-474E-AC6B-FBD3C5DCB4A6}" type="parTrans" cxnId="{C54D0AAA-03F4-4654-BE06-E1CC9C726209}">
      <dgm:prSet/>
      <dgm:spPr/>
      <dgm:t>
        <a:bodyPr/>
        <a:lstStyle/>
        <a:p>
          <a:endParaRPr lang="en-US"/>
        </a:p>
      </dgm:t>
    </dgm:pt>
    <dgm:pt modelId="{AA2E3440-8637-4A92-A55E-820BF9B041B9}" type="sibTrans" cxnId="{C54D0AAA-03F4-4654-BE06-E1CC9C726209}">
      <dgm:prSet/>
      <dgm:spPr/>
      <dgm:t>
        <a:bodyPr/>
        <a:lstStyle/>
        <a:p>
          <a:endParaRPr lang="en-US"/>
        </a:p>
      </dgm:t>
    </dgm:pt>
    <dgm:pt modelId="{E6800A3F-D592-4F27-9DA0-AE40F911C954}">
      <dgm:prSet/>
      <dgm:spPr/>
      <dgm:t>
        <a:bodyPr/>
        <a:lstStyle/>
        <a:p>
          <a:r>
            <a:rPr lang="en-US" dirty="0"/>
            <a:t>One client can have many transactions</a:t>
          </a:r>
        </a:p>
      </dgm:t>
    </dgm:pt>
    <dgm:pt modelId="{11C6B798-6A0C-4A63-9A42-2CEF29E0CE9B}" type="parTrans" cxnId="{72CCEF23-757A-4D90-ACC9-73E42B51DE08}">
      <dgm:prSet/>
      <dgm:spPr/>
      <dgm:t>
        <a:bodyPr/>
        <a:lstStyle/>
        <a:p>
          <a:endParaRPr lang="en-US"/>
        </a:p>
      </dgm:t>
    </dgm:pt>
    <dgm:pt modelId="{475FE201-1DC4-4CFE-BCC1-F9D6D12BEF68}" type="sibTrans" cxnId="{72CCEF23-757A-4D90-ACC9-73E42B51DE08}">
      <dgm:prSet/>
      <dgm:spPr/>
      <dgm:t>
        <a:bodyPr/>
        <a:lstStyle/>
        <a:p>
          <a:endParaRPr lang="en-US"/>
        </a:p>
      </dgm:t>
    </dgm:pt>
    <dgm:pt modelId="{1C66D7FC-A131-4EEA-93F1-C4C24F8770EE}">
      <dgm:prSet/>
      <dgm:spPr/>
      <dgm:t>
        <a:bodyPr/>
        <a:lstStyle/>
        <a:p>
          <a:r>
            <a:rPr lang="en-US" dirty="0"/>
            <a:t>One month can have many new clients</a:t>
          </a:r>
        </a:p>
      </dgm:t>
    </dgm:pt>
    <dgm:pt modelId="{1FC38AB9-DADE-4848-9004-00318BC2AD55}" type="parTrans" cxnId="{CF27A097-CB14-495C-9CF0-0D3CDCE22A6C}">
      <dgm:prSet/>
      <dgm:spPr/>
      <dgm:t>
        <a:bodyPr/>
        <a:lstStyle/>
        <a:p>
          <a:endParaRPr lang="en-US"/>
        </a:p>
      </dgm:t>
    </dgm:pt>
    <dgm:pt modelId="{E82284D4-1222-4E4C-B673-1941BEE8C3A4}" type="sibTrans" cxnId="{CF27A097-CB14-495C-9CF0-0D3CDCE22A6C}">
      <dgm:prSet/>
      <dgm:spPr/>
      <dgm:t>
        <a:bodyPr/>
        <a:lstStyle/>
        <a:p>
          <a:endParaRPr lang="en-US"/>
        </a:p>
      </dgm:t>
    </dgm:pt>
    <dgm:pt modelId="{35022780-41F8-4B41-AB75-A4769F559FA2}">
      <dgm:prSet/>
      <dgm:spPr/>
      <dgm:t>
        <a:bodyPr/>
        <a:lstStyle/>
        <a:p>
          <a:r>
            <a:rPr lang="en-US"/>
            <a:t>Assumptions</a:t>
          </a:r>
        </a:p>
      </dgm:t>
    </dgm:pt>
    <dgm:pt modelId="{45BA82B0-4227-48D5-9E40-C63A063FF908}" type="parTrans" cxnId="{E1CE998B-A7F8-4952-AB44-45CD910DBF07}">
      <dgm:prSet/>
      <dgm:spPr/>
      <dgm:t>
        <a:bodyPr/>
        <a:lstStyle/>
        <a:p>
          <a:endParaRPr lang="en-US"/>
        </a:p>
      </dgm:t>
    </dgm:pt>
    <dgm:pt modelId="{9FB43B09-B917-470A-921D-3FFA969BBF4F}" type="sibTrans" cxnId="{E1CE998B-A7F8-4952-AB44-45CD910DBF07}">
      <dgm:prSet/>
      <dgm:spPr/>
      <dgm:t>
        <a:bodyPr/>
        <a:lstStyle/>
        <a:p>
          <a:endParaRPr lang="en-US"/>
        </a:p>
      </dgm:t>
    </dgm:pt>
    <dgm:pt modelId="{45BBDF54-4DE8-41D9-B761-0D916CF1ED9C}">
      <dgm:prSet/>
      <dgm:spPr/>
      <dgm:t>
        <a:bodyPr/>
        <a:lstStyle/>
        <a:p>
          <a:r>
            <a:rPr lang="en-US" dirty="0"/>
            <a:t>One asset includes a client’s accumulation of all their financial assets in one liquid amount.</a:t>
          </a:r>
        </a:p>
      </dgm:t>
    </dgm:pt>
    <dgm:pt modelId="{8BD87A10-7282-4283-B1F5-B35E3046CE64}" type="parTrans" cxnId="{CC39348E-EC59-43E6-8393-9A86E8A10409}">
      <dgm:prSet/>
      <dgm:spPr/>
      <dgm:t>
        <a:bodyPr/>
        <a:lstStyle/>
        <a:p>
          <a:endParaRPr lang="en-US"/>
        </a:p>
      </dgm:t>
    </dgm:pt>
    <dgm:pt modelId="{7D9D5B3D-9898-4443-8E24-1246C34487A9}" type="sibTrans" cxnId="{CC39348E-EC59-43E6-8393-9A86E8A10409}">
      <dgm:prSet/>
      <dgm:spPr/>
      <dgm:t>
        <a:bodyPr/>
        <a:lstStyle/>
        <a:p>
          <a:endParaRPr lang="en-US"/>
        </a:p>
      </dgm:t>
    </dgm:pt>
    <dgm:pt modelId="{41429982-0B3D-E54D-8BE6-3E1C3464F289}">
      <dgm:prSet/>
      <dgm:spPr/>
      <dgm:t>
        <a:bodyPr/>
        <a:lstStyle/>
        <a:p>
          <a:r>
            <a:rPr lang="en-US" dirty="0"/>
            <a:t>Each transaction is associated with one client</a:t>
          </a:r>
        </a:p>
      </dgm:t>
    </dgm:pt>
    <dgm:pt modelId="{1EC01548-9DF1-4240-9937-4A51E10183C3}" type="parTrans" cxnId="{6571FA9B-B5C4-1D47-B428-C023184119D1}">
      <dgm:prSet/>
      <dgm:spPr/>
      <dgm:t>
        <a:bodyPr/>
        <a:lstStyle/>
        <a:p>
          <a:endParaRPr lang="en-US"/>
        </a:p>
      </dgm:t>
    </dgm:pt>
    <dgm:pt modelId="{AFD0DEEA-8B87-DF44-ADE2-C41F9EE74234}" type="sibTrans" cxnId="{6571FA9B-B5C4-1D47-B428-C023184119D1}">
      <dgm:prSet/>
      <dgm:spPr/>
      <dgm:t>
        <a:bodyPr/>
        <a:lstStyle/>
        <a:p>
          <a:endParaRPr lang="en-US"/>
        </a:p>
      </dgm:t>
    </dgm:pt>
    <dgm:pt modelId="{CFE9BE57-D632-7241-9F95-97B99783C281}">
      <dgm:prSet/>
      <dgm:spPr/>
      <dgm:t>
        <a:bodyPr/>
        <a:lstStyle/>
        <a:p>
          <a:r>
            <a:rPr lang="en-US" dirty="0"/>
            <a:t>One month can have many transactions</a:t>
          </a:r>
        </a:p>
      </dgm:t>
    </dgm:pt>
    <dgm:pt modelId="{16F2D5BF-9665-C447-821B-D10880AAC82C}" type="parTrans" cxnId="{2CE8FA24-A9CF-2E40-B53C-978D431B4DC0}">
      <dgm:prSet/>
      <dgm:spPr/>
    </dgm:pt>
    <dgm:pt modelId="{E4F815A0-0AC0-4044-AAA0-FA97B3612DF5}" type="sibTrans" cxnId="{2CE8FA24-A9CF-2E40-B53C-978D431B4DC0}">
      <dgm:prSet/>
      <dgm:spPr/>
    </dgm:pt>
    <dgm:pt modelId="{F5C1A62B-D31D-DA4E-8D6E-BA04CF05CAAD}" type="pres">
      <dgm:prSet presAssocID="{73A056D4-AF2C-4D30-BBEE-28D79FB8B4E0}" presName="Name0" presStyleCnt="0">
        <dgm:presLayoutVars>
          <dgm:dir/>
          <dgm:animLvl val="lvl"/>
          <dgm:resizeHandles val="exact"/>
        </dgm:presLayoutVars>
      </dgm:prSet>
      <dgm:spPr/>
    </dgm:pt>
    <dgm:pt modelId="{6886ABFE-8AE9-CD4B-888C-EE957BE27590}" type="pres">
      <dgm:prSet presAssocID="{5CEE4FD7-3958-46E7-915A-DE7C4B96E696}" presName="composite" presStyleCnt="0"/>
      <dgm:spPr/>
    </dgm:pt>
    <dgm:pt modelId="{D5AB046C-6635-9F41-A03E-24F5584FB596}" type="pres">
      <dgm:prSet presAssocID="{5CEE4FD7-3958-46E7-915A-DE7C4B96E69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CCDCC8B-C513-F149-ABF3-6846E2667B42}" type="pres">
      <dgm:prSet presAssocID="{5CEE4FD7-3958-46E7-915A-DE7C4B96E696}" presName="desTx" presStyleLbl="alignAccFollowNode1" presStyleIdx="0" presStyleCnt="2">
        <dgm:presLayoutVars>
          <dgm:bulletEnabled val="1"/>
        </dgm:presLayoutVars>
      </dgm:prSet>
      <dgm:spPr/>
    </dgm:pt>
    <dgm:pt modelId="{2160DE15-C772-3E49-AF18-871DE721C3F3}" type="pres">
      <dgm:prSet presAssocID="{87665EBB-26FA-4AC0-B43D-600AB630C4C4}" presName="space" presStyleCnt="0"/>
      <dgm:spPr/>
    </dgm:pt>
    <dgm:pt modelId="{4543DCDA-359A-A945-90CC-5EDF170689B6}" type="pres">
      <dgm:prSet presAssocID="{35022780-41F8-4B41-AB75-A4769F559FA2}" presName="composite" presStyleCnt="0"/>
      <dgm:spPr/>
    </dgm:pt>
    <dgm:pt modelId="{885CF7B8-567C-2E4D-A431-C9A0EA1667D1}" type="pres">
      <dgm:prSet presAssocID="{35022780-41F8-4B41-AB75-A4769F559FA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08E88BC-AB90-BE4B-A05F-1CD22B3CB61F}" type="pres">
      <dgm:prSet presAssocID="{35022780-41F8-4B41-AB75-A4769F559FA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9868E01-229D-5C4A-8D17-432A0969D9C9}" type="presOf" srcId="{5CEE4FD7-3958-46E7-915A-DE7C4B96E696}" destId="{D5AB046C-6635-9F41-A03E-24F5584FB596}" srcOrd="0" destOrd="0" presId="urn:microsoft.com/office/officeart/2005/8/layout/hList1"/>
    <dgm:cxn modelId="{7595BA0A-AB7F-CC4F-A0A9-2A911755C654}" type="presOf" srcId="{73A056D4-AF2C-4D30-BBEE-28D79FB8B4E0}" destId="{F5C1A62B-D31D-DA4E-8D6E-BA04CF05CAAD}" srcOrd="0" destOrd="0" presId="urn:microsoft.com/office/officeart/2005/8/layout/hList1"/>
    <dgm:cxn modelId="{8C52D913-9232-BC4D-8C74-A23E2F5C3FD1}" type="presOf" srcId="{CFE9BE57-D632-7241-9F95-97B99783C281}" destId="{DCCDCC8B-C513-F149-ABF3-6846E2667B42}" srcOrd="0" destOrd="2" presId="urn:microsoft.com/office/officeart/2005/8/layout/hList1"/>
    <dgm:cxn modelId="{900FDF1D-310A-A54F-83E3-62B7FF6FC456}" type="presOf" srcId="{35022780-41F8-4B41-AB75-A4769F559FA2}" destId="{885CF7B8-567C-2E4D-A431-C9A0EA1667D1}" srcOrd="0" destOrd="0" presId="urn:microsoft.com/office/officeart/2005/8/layout/hList1"/>
    <dgm:cxn modelId="{31454E21-647C-45D5-BE0A-EB5F54F41918}" srcId="{73A056D4-AF2C-4D30-BBEE-28D79FB8B4E0}" destId="{5CEE4FD7-3958-46E7-915A-DE7C4B96E696}" srcOrd="0" destOrd="0" parTransId="{D119AD1A-852E-4CE3-A5CF-85B8F787D328}" sibTransId="{87665EBB-26FA-4AC0-B43D-600AB630C4C4}"/>
    <dgm:cxn modelId="{72CCEF23-757A-4D90-ACC9-73E42B51DE08}" srcId="{5CEE4FD7-3958-46E7-915A-DE7C4B96E696}" destId="{E6800A3F-D592-4F27-9DA0-AE40F911C954}" srcOrd="1" destOrd="0" parTransId="{11C6B798-6A0C-4A63-9A42-2CEF29E0CE9B}" sibTransId="{475FE201-1DC4-4CFE-BCC1-F9D6D12BEF68}"/>
    <dgm:cxn modelId="{2CE8FA24-A9CF-2E40-B53C-978D431B4DC0}" srcId="{5CEE4FD7-3958-46E7-915A-DE7C4B96E696}" destId="{CFE9BE57-D632-7241-9F95-97B99783C281}" srcOrd="2" destOrd="0" parTransId="{16F2D5BF-9665-C447-821B-D10880AAC82C}" sibTransId="{E4F815A0-0AC0-4044-AAA0-FA97B3612DF5}"/>
    <dgm:cxn modelId="{165A406C-3F64-D449-A36A-5F9AD2545351}" type="presOf" srcId="{45BBDF54-4DE8-41D9-B761-0D916CF1ED9C}" destId="{108E88BC-AB90-BE4B-A05F-1CD22B3CB61F}" srcOrd="0" destOrd="0" presId="urn:microsoft.com/office/officeart/2005/8/layout/hList1"/>
    <dgm:cxn modelId="{E195A37E-2C38-9B47-9F70-56ABE4296FF1}" type="presOf" srcId="{1443706E-3134-40AC-A52B-2E015E42A0A2}" destId="{DCCDCC8B-C513-F149-ABF3-6846E2667B42}" srcOrd="0" destOrd="0" presId="urn:microsoft.com/office/officeart/2005/8/layout/hList1"/>
    <dgm:cxn modelId="{19909280-FA08-164D-86A4-19ABBDBD4981}" type="presOf" srcId="{41429982-0B3D-E54D-8BE6-3E1C3464F289}" destId="{DCCDCC8B-C513-F149-ABF3-6846E2667B42}" srcOrd="0" destOrd="4" presId="urn:microsoft.com/office/officeart/2005/8/layout/hList1"/>
    <dgm:cxn modelId="{E1CE998B-A7F8-4952-AB44-45CD910DBF07}" srcId="{73A056D4-AF2C-4D30-BBEE-28D79FB8B4E0}" destId="{35022780-41F8-4B41-AB75-A4769F559FA2}" srcOrd="1" destOrd="0" parTransId="{45BA82B0-4227-48D5-9E40-C63A063FF908}" sibTransId="{9FB43B09-B917-470A-921D-3FFA969BBF4F}"/>
    <dgm:cxn modelId="{CC39348E-EC59-43E6-8393-9A86E8A10409}" srcId="{35022780-41F8-4B41-AB75-A4769F559FA2}" destId="{45BBDF54-4DE8-41D9-B761-0D916CF1ED9C}" srcOrd="0" destOrd="0" parTransId="{8BD87A10-7282-4283-B1F5-B35E3046CE64}" sibTransId="{7D9D5B3D-9898-4443-8E24-1246C34487A9}"/>
    <dgm:cxn modelId="{CF27A097-CB14-495C-9CF0-0D3CDCE22A6C}" srcId="{5CEE4FD7-3958-46E7-915A-DE7C4B96E696}" destId="{1C66D7FC-A131-4EEA-93F1-C4C24F8770EE}" srcOrd="3" destOrd="0" parTransId="{1FC38AB9-DADE-4848-9004-00318BC2AD55}" sibTransId="{E82284D4-1222-4E4C-B673-1941BEE8C3A4}"/>
    <dgm:cxn modelId="{6571FA9B-B5C4-1D47-B428-C023184119D1}" srcId="{5CEE4FD7-3958-46E7-915A-DE7C4B96E696}" destId="{41429982-0B3D-E54D-8BE6-3E1C3464F289}" srcOrd="4" destOrd="0" parTransId="{1EC01548-9DF1-4240-9937-4A51E10183C3}" sibTransId="{AFD0DEEA-8B87-DF44-ADE2-C41F9EE74234}"/>
    <dgm:cxn modelId="{C54D0AAA-03F4-4654-BE06-E1CC9C726209}" srcId="{5CEE4FD7-3958-46E7-915A-DE7C4B96E696}" destId="{1443706E-3134-40AC-A52B-2E015E42A0A2}" srcOrd="0" destOrd="0" parTransId="{804ADAEC-C178-474E-AC6B-FBD3C5DCB4A6}" sibTransId="{AA2E3440-8637-4A92-A55E-820BF9B041B9}"/>
    <dgm:cxn modelId="{62A70EB8-83F6-5546-B33D-13ED4D978F74}" type="presOf" srcId="{1C66D7FC-A131-4EEA-93F1-C4C24F8770EE}" destId="{DCCDCC8B-C513-F149-ABF3-6846E2667B42}" srcOrd="0" destOrd="3" presId="urn:microsoft.com/office/officeart/2005/8/layout/hList1"/>
    <dgm:cxn modelId="{75B5A5EE-F7A7-BF44-9B1C-69413870E2BB}" type="presOf" srcId="{E6800A3F-D592-4F27-9DA0-AE40F911C954}" destId="{DCCDCC8B-C513-F149-ABF3-6846E2667B42}" srcOrd="0" destOrd="1" presId="urn:microsoft.com/office/officeart/2005/8/layout/hList1"/>
    <dgm:cxn modelId="{8F68E0F0-1519-ED4A-A950-F2F054FFB357}" type="presParOf" srcId="{F5C1A62B-D31D-DA4E-8D6E-BA04CF05CAAD}" destId="{6886ABFE-8AE9-CD4B-888C-EE957BE27590}" srcOrd="0" destOrd="0" presId="urn:microsoft.com/office/officeart/2005/8/layout/hList1"/>
    <dgm:cxn modelId="{1F4D11BE-20EF-FE4C-BD4A-91C640A2F11E}" type="presParOf" srcId="{6886ABFE-8AE9-CD4B-888C-EE957BE27590}" destId="{D5AB046C-6635-9F41-A03E-24F5584FB596}" srcOrd="0" destOrd="0" presId="urn:microsoft.com/office/officeart/2005/8/layout/hList1"/>
    <dgm:cxn modelId="{EB1594CB-3A1C-1C4E-8F9F-2914CB42A4EF}" type="presParOf" srcId="{6886ABFE-8AE9-CD4B-888C-EE957BE27590}" destId="{DCCDCC8B-C513-F149-ABF3-6846E2667B42}" srcOrd="1" destOrd="0" presId="urn:microsoft.com/office/officeart/2005/8/layout/hList1"/>
    <dgm:cxn modelId="{CBB00706-463A-1C4A-88BC-B97EE7673DE2}" type="presParOf" srcId="{F5C1A62B-D31D-DA4E-8D6E-BA04CF05CAAD}" destId="{2160DE15-C772-3E49-AF18-871DE721C3F3}" srcOrd="1" destOrd="0" presId="urn:microsoft.com/office/officeart/2005/8/layout/hList1"/>
    <dgm:cxn modelId="{105E9F58-52B1-5548-93FB-BBEC82313BE0}" type="presParOf" srcId="{F5C1A62B-D31D-DA4E-8D6E-BA04CF05CAAD}" destId="{4543DCDA-359A-A945-90CC-5EDF170689B6}" srcOrd="2" destOrd="0" presId="urn:microsoft.com/office/officeart/2005/8/layout/hList1"/>
    <dgm:cxn modelId="{3E910632-FD71-474E-BF67-C4BE1A6A0BB0}" type="presParOf" srcId="{4543DCDA-359A-A945-90CC-5EDF170689B6}" destId="{885CF7B8-567C-2E4D-A431-C9A0EA1667D1}" srcOrd="0" destOrd="0" presId="urn:microsoft.com/office/officeart/2005/8/layout/hList1"/>
    <dgm:cxn modelId="{C33930BB-C7D3-394B-B301-B9C61179096C}" type="presParOf" srcId="{4543DCDA-359A-A945-90CC-5EDF170689B6}" destId="{108E88BC-AB90-BE4B-A05F-1CD22B3CB61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B046C-6635-9F41-A03E-24F5584FB596}">
      <dsp:nvSpPr>
        <dsp:cNvPr id="0" name=""/>
        <dsp:cNvSpPr/>
      </dsp:nvSpPr>
      <dsp:spPr>
        <a:xfrm>
          <a:off x="53" y="28990"/>
          <a:ext cx="5106412" cy="66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Business Rules</a:t>
          </a:r>
        </a:p>
      </dsp:txBody>
      <dsp:txXfrm>
        <a:off x="53" y="28990"/>
        <a:ext cx="5106412" cy="662400"/>
      </dsp:txXfrm>
    </dsp:sp>
    <dsp:sp modelId="{DCCDCC8B-C513-F149-ABF3-6846E2667B42}">
      <dsp:nvSpPr>
        <dsp:cNvPr id="0" name=""/>
        <dsp:cNvSpPr/>
      </dsp:nvSpPr>
      <dsp:spPr>
        <a:xfrm>
          <a:off x="53" y="691390"/>
          <a:ext cx="5106412" cy="34724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One client can have one asset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One client can have many transactions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One month can have many transactions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One month can have many new clients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Each transaction is associated with one client</a:t>
          </a:r>
        </a:p>
      </dsp:txBody>
      <dsp:txXfrm>
        <a:off x="53" y="691390"/>
        <a:ext cx="5106412" cy="3472424"/>
      </dsp:txXfrm>
    </dsp:sp>
    <dsp:sp modelId="{885CF7B8-567C-2E4D-A431-C9A0EA1667D1}">
      <dsp:nvSpPr>
        <dsp:cNvPr id="0" name=""/>
        <dsp:cNvSpPr/>
      </dsp:nvSpPr>
      <dsp:spPr>
        <a:xfrm>
          <a:off x="5821363" y="28990"/>
          <a:ext cx="5106412" cy="662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Assumptions</a:t>
          </a:r>
        </a:p>
      </dsp:txBody>
      <dsp:txXfrm>
        <a:off x="5821363" y="28990"/>
        <a:ext cx="5106412" cy="662400"/>
      </dsp:txXfrm>
    </dsp:sp>
    <dsp:sp modelId="{108E88BC-AB90-BE4B-A05F-1CD22B3CB61F}">
      <dsp:nvSpPr>
        <dsp:cNvPr id="0" name=""/>
        <dsp:cNvSpPr/>
      </dsp:nvSpPr>
      <dsp:spPr>
        <a:xfrm>
          <a:off x="5821363" y="691390"/>
          <a:ext cx="5106412" cy="347242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One asset includes a client’s accumulation of all their financial assets in one liquid amount.</a:t>
          </a:r>
        </a:p>
      </dsp:txBody>
      <dsp:txXfrm>
        <a:off x="5821363" y="691390"/>
        <a:ext cx="5106412" cy="3472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FF18-976A-0719-0ED2-111835A1E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04F22-A3F6-12FE-07B0-93AC92728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59B8E-7F6A-609E-D246-3A6E39596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D51-06AC-4C65-12EF-965870DC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9AD2D-5F93-4C86-4697-6757DDCC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5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5C97-AECB-A22E-6BD4-56009EAD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F1463-64F8-9F9C-A5EB-430C62D3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29914-32C9-8A29-E887-375FE01A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476A-378E-775A-8E76-2906F6BD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DA5C9-F137-D156-4880-D9149C5D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1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F6A5-34E2-70CB-605F-A37BE9832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51CEA-E38A-A310-7CC7-3CC9688B4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83BF-5789-7831-22BC-EB98A075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87ED-4F77-573E-7B5F-C2610AD9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C312B-99CE-7C65-DB3A-7076AD6F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0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BAA3-4766-9A42-7436-220D8D06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1464-7090-00CC-60C7-4E68EA1FE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19E39-4799-1064-BBE0-892902234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2B56D-40C1-7FCC-9694-CB99C756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4634C-B852-6E5C-0B22-B4551136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443E3-D339-9D65-63D2-91DA6D61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36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FD4C-1235-ACC9-C512-2A889B57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B218B-6EBD-1302-B893-EDE4C741D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71464-63F8-BD00-AE2E-FF0503398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F2721-D645-98E1-442F-43D5EECCE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7583E-5A5B-7764-50FD-2B5F3F4EE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923B7-DC01-42CD-2DC9-9733C99A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E64AB-6346-EF5D-7DE5-A070C799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0FF5F-E489-5FD9-5484-D580EF88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8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FDC5-4A54-3AD4-5440-4085F244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9026B-F4F3-9309-0A45-A4877597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A7C54-D90D-8F61-E6B0-73DFCD06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DF46F-7C2A-96FD-C6E1-25B9AB0D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6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14536-F0EF-7A3D-FEBE-C46FF117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30439-3A25-2030-26C8-3D13AE7B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73A2D-669C-321F-B6A3-4E412059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9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E68C-2A6C-816C-4020-1915000E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0A26E-ECA7-4F8E-7691-980E9C7C5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FD888-1747-2766-F21F-E54EDB37A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13EB7-56C3-13E8-3A43-A008174D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B1AAB-049B-3B13-58DB-638FF52A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70B5F-6405-03E7-BF93-BE5BCDE7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D8C9-55CD-B68B-A80A-3E078908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7F229-1010-7C10-7F84-3114A0FF9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C7BF8-2616-0E50-9365-9202B20DB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56966-B4BF-0AC6-76B6-F70006AD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4C26C-E24C-6495-1E37-C68F33CC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7B235-3ADA-E64B-2219-CBC05835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7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82BF-2C41-360D-F49E-72A6C68B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33113-86EE-32EC-DBF2-CAAF8D718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BA87-56F6-C47C-E038-27CD65B6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370B7-EDC6-18CF-EDD1-B722569D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D29BC-DAC1-139B-2FD7-5C19E1D0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2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54268-85EB-4FC4-4662-6C734CBAB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7B1FD-BC1F-61C0-F9CD-B91E5DD95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C4CDB-7CB1-AB7B-5844-86712774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9AC09-4A53-0A29-A919-688AEC14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DED93-AF63-C32E-291B-43039C8E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2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AD5219-3AF4-9522-8F46-F29407B8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610EB-F0DF-4DC9-0ACE-ADFEE7D9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EB798-E83E-BCDC-B8CD-8F8B17850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FF713-6187-0C40-82CB-3EE322F7EF8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B9336-B285-A4D2-DC81-A3CE0B053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7B20C-D621-9ED0-86E9-BDEC8B6F2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3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5800C-82D9-43C4-3859-FB5DAFE74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Willson Financial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70837-CE14-3E81-2953-C2273F7F2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dirty="0"/>
              <a:t>Course</a:t>
            </a:r>
          </a:p>
          <a:p>
            <a:pPr algn="l"/>
            <a:r>
              <a:rPr lang="en-US" sz="2000" dirty="0"/>
              <a:t>CSD310-340A Database Development and Use</a:t>
            </a:r>
          </a:p>
          <a:p>
            <a:pPr algn="l"/>
            <a:r>
              <a:rPr lang="en-US" sz="2000" b="1" dirty="0"/>
              <a:t>Group Members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Mitchel Cotton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Carli McAvoy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Johnathan Smith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Christopher Villarreal</a:t>
            </a:r>
          </a:p>
        </p:txBody>
      </p:sp>
    </p:spTree>
    <p:extLst>
      <p:ext uri="{BB962C8B-B14F-4D97-AF65-F5344CB8AC3E}">
        <p14:creationId xmlns:p14="http://schemas.microsoft.com/office/powerpoint/2010/main" val="1060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EF8D9-F29A-58C8-3C2E-CD93D9C6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Willson Financial 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06D7-E2DA-26C7-488B-A8D6050F1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700"/>
              <a:t>Willson Financial is an SEC-registered financial advising firm, recently opened in a small New Mexico town. Their firm serves ranchers, farmers, and retirees.</a:t>
            </a:r>
          </a:p>
          <a:p>
            <a:r>
              <a:rPr lang="en-US" sz="1700"/>
              <a:t>Our database was designed to answer questions such as:</a:t>
            </a:r>
          </a:p>
          <a:p>
            <a:pPr lvl="1"/>
            <a:r>
              <a:rPr lang="en-US" sz="1700"/>
              <a:t>How many clients have been added in each of the last six months?</a:t>
            </a:r>
          </a:p>
          <a:p>
            <a:pPr lvl="1"/>
            <a:r>
              <a:rPr lang="en-US" sz="1700"/>
              <a:t>What is the average asset amount across all clients?</a:t>
            </a:r>
          </a:p>
          <a:p>
            <a:pPr lvl="1"/>
            <a:r>
              <a:rPr lang="en-US" sz="1700"/>
              <a:t>Which clients have more than 10 transactions per month?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686087D5-2715-DBE5-E156-8C3E096FC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16" r="24496" b="1"/>
          <a:stretch>
            <a:fillRect/>
          </a:stretch>
        </p:blipFill>
        <p:spPr>
          <a:xfrm>
            <a:off x="7191949" y="909081"/>
            <a:ext cx="3938565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3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DFABF-7217-568D-A9D7-7A62F537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Business Rules &amp; Assumptions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8314D2-6340-89FE-B003-16495C8FC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9979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66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B9E9A-F75B-456F-4ACA-50280C7A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 Diagram</a:t>
            </a:r>
          </a:p>
        </p:txBody>
      </p:sp>
      <p:pic>
        <p:nvPicPr>
          <p:cNvPr id="4" name="Content Placeholder 3" descr="A diagram of a company&#10;&#10;AI-generated content may be incorrect.">
            <a:extLst>
              <a:ext uri="{FF2B5EF4-FFF2-40B4-BE49-F238E27FC236}">
                <a16:creationId xmlns:a16="http://schemas.microsoft.com/office/drawing/2014/main" id="{1A0B5C41-9EEE-4CD8-3AC1-E94297FBC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529669"/>
            <a:ext cx="7225748" cy="57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6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910E2-4B36-947F-21A1-07E043D5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Report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8740-22E4-952E-DC16-E810734F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850" y="4349932"/>
            <a:ext cx="3003741" cy="11782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Displays each client with their asset type and total asset value.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8CCFB46-E45C-BA6D-4D01-98A331086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400726"/>
            <a:ext cx="7608304" cy="412750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3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1BEC5-29BE-5CCF-B048-30AA5E7E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Report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06056-775F-5EE9-A1BA-2C47D3202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908" y="5086350"/>
            <a:ext cx="2446465" cy="11782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Calculates the average asset value across all clients.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FA12F716-11B2-4EB6-0AA1-F81968A6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2351764"/>
            <a:ext cx="7608304" cy="22254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41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98E90-C929-6EF6-E269-AADCD734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Report #3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DC13F76-099D-9D98-BDDE-BC9F77F70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238" y="868145"/>
            <a:ext cx="7608304" cy="51926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44B95-758D-D3FC-A456-4BC8D77FA5F8}"/>
              </a:ext>
            </a:extLst>
          </p:cNvPr>
          <p:cNvSpPr txBox="1"/>
          <p:nvPr/>
        </p:nvSpPr>
        <p:spPr>
          <a:xfrm>
            <a:off x="9038556" y="4516582"/>
            <a:ext cx="2851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Shows how many new clients were added per month over the last six months.</a:t>
            </a:r>
          </a:p>
        </p:txBody>
      </p:sp>
    </p:spTree>
    <p:extLst>
      <p:ext uri="{BB962C8B-B14F-4D97-AF65-F5344CB8AC3E}">
        <p14:creationId xmlns:p14="http://schemas.microsoft.com/office/powerpoint/2010/main" val="323135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72BB8-0043-0445-13C4-DE4D23C6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n-US" sz="3200"/>
              <a:t>Report #4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667E855-B74C-4474-9742-48D8BAAC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1572264"/>
            <a:ext cx="10369645" cy="14517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D1D73-781C-1085-EFBE-6D4E5936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/>
              <a:t>Identifies which client(s) contain more than 10 transactions in a single month</a:t>
            </a:r>
          </a:p>
        </p:txBody>
      </p:sp>
    </p:spTree>
    <p:extLst>
      <p:ext uri="{BB962C8B-B14F-4D97-AF65-F5344CB8AC3E}">
        <p14:creationId xmlns:p14="http://schemas.microsoft.com/office/powerpoint/2010/main" val="1245321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217</Words>
  <Application>Microsoft Macintosh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Willson Financial Case Study</vt:lpstr>
      <vt:lpstr>Willson Financial Case Study Overview</vt:lpstr>
      <vt:lpstr>Business Rules &amp; Assumptions</vt:lpstr>
      <vt:lpstr>ER Diagram</vt:lpstr>
      <vt:lpstr>Report #1</vt:lpstr>
      <vt:lpstr>Report #2</vt:lpstr>
      <vt:lpstr>Report #3</vt:lpstr>
      <vt:lpstr>Report #4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Villarreal</dc:creator>
  <cp:lastModifiedBy>Christopher Villarreal</cp:lastModifiedBy>
  <cp:revision>4</cp:revision>
  <dcterms:created xsi:type="dcterms:W3CDTF">2025-12-11T19:07:21Z</dcterms:created>
  <dcterms:modified xsi:type="dcterms:W3CDTF">2025-12-12T21:27:49Z</dcterms:modified>
</cp:coreProperties>
</file>